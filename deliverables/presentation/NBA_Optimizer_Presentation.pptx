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64592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C9A84C"/>
                </a:solidFill>
                <a:latin typeface="Calibri"/>
              </a:defRPr>
            </a:pPr>
            <a:r>
              <a:t>NBA ROSTER OPTIMIZATION ENGINE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01752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FFFFFF"/>
                </a:solidFill>
                <a:latin typeface="Calibri"/>
              </a:defRPr>
            </a:pPr>
            <a:r>
              <a:t>Building the Statistically Optimal Team Under a Salary Cap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9A84C"/>
                </a:solidFill>
                <a:latin typeface="Calibri"/>
              </a:defRPr>
            </a:pPr>
            <a:r>
              <a:t>Data-Driven  |  PCA Composite Scoring  |  K-Means Archetypes  |  MILP Optimization  |  Synergy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4864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2F2F2"/>
                </a:solidFill>
                <a:latin typeface="Calibri"/>
              </a:defRPr>
            </a:pPr>
            <a:r>
              <a:t>1,208 Player-Seasons  |  9 Validated Stats  |  6 Archetypes  |  10 Optimized Rosters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C9A84C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NBA teams spend $150M+ on rosters — but how do you know you're spending it right?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Traditional roster building relies on scouts, gut feelings, and media narratives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Players are evaluated in isolation — but basketball is a team sport where fit matters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No single stat captures a player's total value — points ignore defense, rebounds ignore playmaking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GOAL: Build a mathematically optimal 15-man NBA roster that maximizes total player value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under a real salary cap constraint, using only publicly available data, with scoring weights derived from data rather than human guesswork.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C9A84C"/>
                </a:solidFill>
                <a:latin typeface="Calibri"/>
              </a:defRPr>
            </a:pPr>
            <a:r>
              <a:t>DATA COLLECTION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Source: NBA Stats API (nba_api) — official NBA.com backend. Same data NBA teams see.</a:t>
            </a:r>
          </a:p>
          <a:p>
            <a:pPr>
              <a:spcAft>
                <a:spcPts val="6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3 seasons: 2021-22, 2022-23, 2023-24 (~400 players per season = 1,208 player-seasons)</a:t>
            </a:r>
          </a:p>
          <a:p>
            <a:pPr>
              <a:spcAft>
                <a:spcPts val="6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Quality filter: minimum 20 games played and 10 minutes per game</a:t>
            </a:r>
          </a:p>
          <a:p>
            <a:pPr>
              <a:spcAft>
                <a:spcPts val="6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Recency weights: 2021-22 (20%), 2022-23 (35%), 2023-24 (45%)</a:t>
            </a:r>
          </a:p>
          <a:p>
            <a:pPr>
              <a:spcAft>
                <a:spcPts val="6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Salary data: 2023-24 verified contracts + 87 manual corrections for imputation errors</a:t>
            </a:r>
          </a:p>
          <a:p>
            <a:pPr>
              <a:spcAft>
                <a:spcPts val="6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ON/OFF splits from 5-man lineup data (LeagueDashLineups API)</a:t>
            </a:r>
          </a:p>
          <a:p>
            <a:pPr>
              <a:spcAft>
                <a:spcPts val="6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2-man lineup data for pairwise synergy computation (6,000+ pair-seasons)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C9A84C"/>
                </a:solidFill>
                <a:latin typeface="Calibri"/>
              </a:defRPr>
            </a:pPr>
            <a:r>
              <a:t>FEATURE ENGINEERING — Cleaning the Signal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Team Context Adjustment: subtract team average from each stat to isolate individual contribution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Bayesian TS% Shrinkage: pull low-volume shooters toward league average (prevents small-sample inflation)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FG3% Neutralization: non-shooters (&lt;0.5 FG3A/game) set to league avg — 'no info' not 'bad shooter'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W_PCT Residualization: OLS regression removes team-quality bias from ON_OFF_DIFF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INFLUENCE_SCORE = USG% x TS% — separates efficient volume scorers from inefficient ones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IS_SHOOTER flag: created before neutralization so optimizer knows who actually shoots threes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C9A84C"/>
                </a:solidFill>
                <a:latin typeface="Calibri"/>
              </a:defRPr>
            </a:pPr>
            <a:r>
              <a:t>STAT SELECTION — Three-Framework Correlation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Framework 1: Team-adjusted stats vs Win% — which stats predict team winning?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Framework 2: Individual counting stats vs Win% — which individual skills tie to winning?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Framework 3: All stats vs Plus/Minus (team-adjusted) — captures invisible contributions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Spearman Validation: re-test everything with rank correlation to catch non-linear relationships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Selection Rule: stat included if p &lt; 0.05 in at least one framework AND validated by Spearman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DREB_PCT eliminated: position-group adjustment revealed it was measuring height, not skill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RESULT: 9 stats survived — OFF_RATING_ADJ, DEF_RATING_ADJ, AST_PCT_ADJ, BLK, STL, TS%, FG3%, INFLUENCE_SCORE, ON_OFF_DIFF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C9A84C"/>
                </a:solidFill>
                <a:latin typeface="Calibri"/>
              </a:defRPr>
            </a:pPr>
            <a:r>
              <a:t>INTERCORRELATION CHECK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4572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2F2F2"/>
                </a:solidFill>
                <a:latin typeface="Calibri"/>
              </a:defRPr>
            </a:pPr>
            <a:r>
              <a:t>Before entering PCA, all 9 stats must be sufficiently independent. No pair exceeds |r| &gt; 0.7 — each stat captures a unique dimension of player skill. PIE_ADJUSTED was removed due to r=0.78 with INFLUENCE_SCORE (redundant).</a:t>
            </a:r>
          </a:p>
        </p:txBody>
      </p:sp>
      <p:pic>
        <p:nvPicPr>
          <p:cNvPr id="4" name="Picture 3" descr="intercorrelation_fi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365760"/>
            <a:ext cx="5943600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C9A84C"/>
                </a:solidFill>
                <a:latin typeface="Calibri"/>
              </a:defRPr>
            </a:pPr>
            <a:r>
              <a:t>PCA — Deriving the Composite 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PCA (Principal Component Analysis) takes 9 stats per player and compresses them into a single score (0-100).</a:t>
            </a:r>
            <a:br/>
            <a:br/>
            <a:r>
              <a:t>The weights are not chosen by us — they are derived entirely from the data.</a:t>
            </a:r>
            <a:br/>
            <a:br/>
            <a:r>
              <a:t>PC1 alone captures ~30% of variance. We use PC1+PC2+PC3 (65% combined), weighted by their variance-explained shares:</a:t>
            </a:r>
            <a:br/>
            <a:r>
              <a:t>  PC1: 47%  |  PC2: 29%  |  PC3: 24%</a:t>
            </a:r>
            <a:br/>
            <a:br/>
            <a:r>
              <a:t>This ensures the dominant basketball excellence signal (PC1) carries the most weight while PC2/PC3 add independent information.</a:t>
            </a:r>
          </a:p>
        </p:txBody>
      </p:sp>
      <p:pic>
        <p:nvPicPr>
          <p:cNvPr id="4" name="Picture 3" descr="pca_weights_fi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914400"/>
            <a:ext cx="5760720" cy="2743200"/>
          </a:xfrm>
          <a:prstGeom prst="rect">
            <a:avLst/>
          </a:prstGeom>
        </p:spPr>
      </p:pic>
      <p:pic>
        <p:nvPicPr>
          <p:cNvPr id="5" name="Picture 4" descr="pca_variance_explain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3749039"/>
            <a:ext cx="576072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C9A84C"/>
                </a:solidFill>
                <a:latin typeface="Calibri"/>
              </a:defRPr>
            </a:pPr>
            <a:r>
              <a:t>TOP 20 PLAYERS — 2023-24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4572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onsolas"/>
              </a:defRPr>
            </a:pPr>
            <a:r>
              <a:t> 1. Nikola Jokić                 96.3</a:t>
            </a:r>
            <a:br/>
            <a:r>
              <a:t> 2. Shai Gilgeous-Alexander      89.0</a:t>
            </a:r>
            <a:br/>
            <a:r>
              <a:t> 3. Luka Dončić                  87.5</a:t>
            </a:r>
            <a:br/>
            <a:r>
              <a:t> 4. Giannis Antetokounmpo        81.5</a:t>
            </a:r>
            <a:br/>
            <a:r>
              <a:t> 5. Joel Embiid                  79.8</a:t>
            </a:r>
            <a:br/>
            <a:r>
              <a:t> 6. Tyrese Haliburton            78.2</a:t>
            </a:r>
            <a:br/>
            <a:r>
              <a:t> 7. De'Aaron Fox                 77.3</a:t>
            </a:r>
            <a:br/>
            <a:r>
              <a:t> 8. Donovan Mitchell             76.7</a:t>
            </a:r>
            <a:br/>
            <a:r>
              <a:t> 9. Jalen Brunson                76.6</a:t>
            </a:r>
            <a:br/>
            <a:r>
              <a:t>10. LaMelo Ball                  75.0</a:t>
            </a:r>
            <a:br/>
            <a:r>
              <a:t>11. LeBron James                 73.6</a:t>
            </a:r>
            <a:br/>
            <a:r>
              <a:t>12. Damian Lillard               72.1</a:t>
            </a:r>
            <a:br/>
            <a:r>
              <a:t>13. Paul George                  71.2</a:t>
            </a:r>
            <a:br/>
            <a:r>
              <a:t>14. Trae Young                   69.8</a:t>
            </a:r>
            <a:br/>
            <a:r>
              <a:t>15. Kawhi Leonard                68.7</a:t>
            </a:r>
            <a:br/>
            <a:r>
              <a:t>16. Marcus Smart                 68.6</a:t>
            </a:r>
            <a:br/>
            <a:r>
              <a:t>17. Scottie Barnes               68.2</a:t>
            </a:r>
            <a:br/>
            <a:r>
              <a:t>18. Cade Cunningham              67.8</a:t>
            </a:r>
            <a:br/>
            <a:r>
              <a:t>19. Devin Booker                 66.9</a:t>
            </a:r>
            <a:br/>
            <a:r>
              <a:t>20. Jusuf Nurkić                 66.8</a:t>
            </a:r>
            <a:br/>
          </a:p>
        </p:txBody>
      </p:sp>
      <p:pic>
        <p:nvPicPr>
          <p:cNvPr id="4" name="Picture 3" descr="top20_players_fi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731520"/>
            <a:ext cx="59436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C9A84C"/>
                </a:solidFill>
                <a:latin typeface="Calibri"/>
              </a:defRPr>
            </a:pPr>
            <a:r>
              <a:t>K-MEANS CLUSTERING — Discovering Player Archetypes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K-Means groups 1,208 player-seasons into clusters based on their 9-stat profiles. Players with similar statistical fingerprints land in the same group.</a:t>
            </a:r>
            <a:br/>
            <a:br/>
            <a:r>
              <a:t>Elbow method validated K=7 as optimal (7 clusters mapped to 6 archetype labels).</a:t>
            </a:r>
            <a:br/>
            <a:br/>
            <a:r>
              <a:t>Dynamic labeling: archetypes assigned by centroid statistics, not hardcoded cluster numbers. This prevents labels from breaking when data changes.</a:t>
            </a:r>
          </a:p>
        </p:txBody>
      </p:sp>
      <p:pic>
        <p:nvPicPr>
          <p:cNvPr id="4" name="Picture 3" descr="elbow_metho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365760"/>
            <a:ext cx="5943600" cy="3017520"/>
          </a:xfrm>
          <a:prstGeom prst="rect">
            <a:avLst/>
          </a:prstGeom>
        </p:spPr>
      </p:pic>
      <p:pic>
        <p:nvPicPr>
          <p:cNvPr id="5" name="Picture 4" descr="cluster_visualiz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0" y="3474720"/>
            <a:ext cx="5943600" cy="3200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347472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2F2F2"/>
                </a:solidFill>
                <a:latin typeface="Consolas"/>
              </a:defRPr>
            </a:pPr>
            <a:r>
              <a:t>6 ARCHETYPES:</a:t>
            </a:r>
            <a:br/>
            <a:r>
              <a:t>  Elite Playmaker    — Jokic, SGA, Luka, Embiid, Giannis</a:t>
            </a:r>
            <a:br/>
            <a:r>
              <a:t>  Two-Way Big        — Wembanyama, AD, Gobert</a:t>
            </a:r>
            <a:br/>
            <a:r>
              <a:t>  Versatile Scorer   — Franz Wagner, Garland, Randle</a:t>
            </a:r>
            <a:br/>
            <a:r>
              <a:t>  Defensive Wing     — OG Anunoby, KCP, Aaron Gordon</a:t>
            </a:r>
            <a:br/>
            <a:r>
              <a:t>  Perimeter Scorer   — Markkanen, RJ Barrett</a:t>
            </a:r>
            <a:br/>
            <a:r>
              <a:t>  Bench / Role Player — Depth pieces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C9A84C"/>
                </a:solidFill>
                <a:latin typeface="Calibri"/>
              </a:defRPr>
            </a:pPr>
            <a:r>
              <a:t>ARCHETYPE STAT PROFILES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2F2F2"/>
                </a:solidFill>
                <a:latin typeface="Calibri"/>
              </a:defRPr>
            </a:pPr>
            <a:r>
              <a:t>Each archetype has a distinct statistical fingerprint — radar charts show average stat profile on a 0-1 normalized scale.</a:t>
            </a:r>
          </a:p>
        </p:txBody>
      </p:sp>
      <p:pic>
        <p:nvPicPr>
          <p:cNvPr id="4" name="Picture 3" descr="archetype_radar_char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63040"/>
            <a:ext cx="1124712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C9A84C"/>
                </a:solidFill>
                <a:latin typeface="Calibri"/>
              </a:defRPr>
            </a:pPr>
            <a:r>
              <a:t>MILP OPTIMIZATION — Building the Roster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69848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MILP (Mixed Integer Linear Programming): mathematically optimal solution to the stated objective (exact, not a heuristic)</a:t>
            </a:r>
          </a:p>
          <a:p>
            <a:pPr>
              <a:spcAft>
                <a:spcPts val="3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399 binary decision variables: each player is either on the roster (1) or not (0)</a:t>
            </a:r>
          </a:p>
          <a:p>
            <a:pPr>
              <a:spcAft>
                <a:spcPts val="3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Objective: maximize total composite score (or variant objectives per scenario)</a:t>
            </a:r>
          </a:p>
          <a:p>
            <a:pPr>
              <a:spcAft>
                <a:spcPts val="300"/>
              </a:spcAft>
              <a:defRPr sz="14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3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HARD CONSTRAINTS:</a:t>
            </a:r>
          </a:p>
          <a:p>
            <a:pPr>
              <a:spcAft>
                <a:spcPts val="3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  - Salary cap (varies by scenario: $90M to $165M)</a:t>
            </a:r>
          </a:p>
          <a:p>
            <a:pPr>
              <a:spcAft>
                <a:spcPts val="3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  - Exactly 15 players on the roster</a:t>
            </a:r>
          </a:p>
          <a:p>
            <a:pPr>
              <a:spcAft>
                <a:spcPts val="3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  - Archetype minimums (at least 1 Elite Playmaker, 2 Two-Way Bigs, etc.)</a:t>
            </a:r>
          </a:p>
          <a:p>
            <a:pPr>
              <a:spcAft>
                <a:spcPts val="3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  - Max 2 players from any single NBA team (team diversity)</a:t>
            </a:r>
          </a:p>
          <a:p>
            <a:pPr>
              <a:spcAft>
                <a:spcPts val="3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  - Max 5 big men on roster</a:t>
            </a:r>
          </a:p>
          <a:p>
            <a:pPr>
              <a:spcAft>
                <a:spcPts val="300"/>
              </a:spcAft>
              <a:defRPr sz="14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3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VARIANT CONSTRAINTS (per scenario):</a:t>
            </a:r>
          </a:p>
          <a:p>
            <a:pPr>
              <a:spcAft>
                <a:spcPts val="3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  - Rebuild: at least 9 players age 24 or younger</a:t>
            </a:r>
          </a:p>
          <a:p>
            <a:pPr>
              <a:spcAft>
                <a:spcPts val="3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  - Win-Now: at least 9 veterans age 28 or older</a:t>
            </a:r>
          </a:p>
          <a:p>
            <a:pPr>
              <a:spcAft>
                <a:spcPts val="3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  - Three-Point Era: at least 10 real shooters (IS_SHOOTER flag)</a:t>
            </a:r>
          </a:p>
          <a:p>
            <a:pPr>
              <a:spcAft>
                <a:spcPts val="3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  - Small Ball: max 1 Two-Way Big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C9A84C"/>
                </a:solidFill>
                <a:latin typeface="Calibri"/>
              </a:defRPr>
            </a:pPr>
            <a:r>
              <a:t>SYNERGY MODEL — Player Chemistry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69848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PROBLEM: The base optimizer treats players independently. Basketball is a team sport.</a:t>
            </a:r>
          </a:p>
          <a:p>
            <a:pPr>
              <a:spcAft>
                <a:spcPts val="3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Some pairs elevate each other (Jokic + shooters). Some pairs clash.</a:t>
            </a:r>
          </a:p>
          <a:p>
            <a:pPr>
              <a:spcAft>
                <a:spcPts val="300"/>
              </a:spcAft>
              <a:defRPr sz="14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3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THREE SYNERGY LAYERS:</a:t>
            </a:r>
          </a:p>
          <a:p>
            <a:pPr>
              <a:spcAft>
                <a:spcPts val="300"/>
              </a:spcAft>
              <a:defRPr sz="14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3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Layer 1 — Player Profile: each player's average NET_SYNERGY across all observed 2-man pairs.</a:t>
            </a:r>
          </a:p>
          <a:p>
            <a:pPr>
              <a:spcAft>
                <a:spcPts val="3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    Players who consistently elevate teammates get a score boost. Weight = 0.4.</a:t>
            </a:r>
          </a:p>
          <a:p>
            <a:pPr>
              <a:spcAft>
                <a:spcPts val="300"/>
              </a:spcAft>
              <a:defRPr sz="14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3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Layer 2 — Pairwise Bonus: if two specific players with observed positive synergy are both</a:t>
            </a:r>
          </a:p>
          <a:p>
            <a:pPr>
              <a:spcAft>
                <a:spcPts val="3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    selected, the optimizer gets a bonus. Linearized via binary y_ij variables in MILP.</a:t>
            </a:r>
          </a:p>
          <a:p>
            <a:pPr>
              <a:spcAft>
                <a:spcPts val="300"/>
              </a:spcAft>
              <a:defRPr sz="14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3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Layer 3 — Defensive Coverage Zones: hard constraints requiring paint protection (BLK &gt;= 1.5),</a:t>
            </a:r>
          </a:p>
          <a:p>
            <a:pPr>
              <a:spcAft>
                <a:spcPts val="3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    perimeter disruption (STL &gt;= 1.3), and switchability (4+ defensive-archetype players).</a:t>
            </a:r>
          </a:p>
          <a:p>
            <a:pPr>
              <a:spcAft>
                <a:spcPts val="300"/>
              </a:spcAft>
              <a:defRPr sz="14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3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VALIDATION: W_NET_SYNERGY has highest correlation with Win% (r=+0.568) across all 3 seasons.</a:t>
            </a:r>
          </a:p>
          <a:p>
            <a:pPr>
              <a:spcAft>
                <a:spcPts val="3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The data chose NET_SYNERGY — not us.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C9A84C"/>
                </a:solidFill>
                <a:latin typeface="Calibri"/>
              </a:defRPr>
            </a:pPr>
            <a:r>
              <a:t>10 OPTIMIZATION SCENARIOS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6984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onsolas"/>
              </a:defRPr>
            </a:pPr>
            <a:r>
              <a:t>Scenario A — Hard Cap ($136M)          Standard baseline roster</a:t>
            </a:r>
            <a:br/>
            <a:r>
              <a:t>Scenario B — Luxury Tax ($165M)        Best roster money can buy</a:t>
            </a:r>
            <a:br/>
            <a:r>
              <a:t>Scenario C — Budget Team ($90M)        Small-market constraint</a:t>
            </a:r>
            <a:br/>
            <a:r>
              <a:t>Scenario D — Rebuild Mode ($136M)      Min 9 players age &lt;= 24</a:t>
            </a:r>
            <a:br/>
            <a:r>
              <a:t>Scenario E — Win-Now ($165M)           Min 9 veterans age &gt;= 28</a:t>
            </a:r>
            <a:br/>
            <a:r>
              <a:t>Scenario F — Defensive Identity        Maximize defensive rating</a:t>
            </a:r>
            <a:br/>
            <a:r>
              <a:t>Scenario G — Offensive Identity        Maximize offensive rating</a:t>
            </a:r>
            <a:br/>
            <a:r>
              <a:t>Scenario H — Three-Point Era           Min 10 real 3PT shooters</a:t>
            </a:r>
            <a:br/>
            <a:r>
              <a:t>Scenario I — Small Ball                Max 1 Two-Way Big</a:t>
            </a:r>
            <a:br/>
            <a:r>
              <a:t>Scenario J — Value / Efficiency        Maximize VORPD (Moneyball)</a:t>
            </a:r>
            <a:br/>
          </a:p>
        </p:txBody>
      </p:sp>
      <p:sp>
        <p:nvSpPr>
          <p:cNvPr id="4" name="TextBox 3"/>
          <p:cNvSpPr txBox="1"/>
          <p:nvPr/>
        </p:nvSpPr>
        <p:spPr>
          <a:xfrm>
            <a:off x="731520" y="45720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2F2F2"/>
                </a:solidFill>
                <a:latin typeface="Calibri"/>
              </a:defRPr>
            </a:pPr>
            <a:r>
              <a:t>Each scenario solves a different real-world GM question.</a:t>
            </a:r>
            <a:br/>
            <a:r>
              <a:t>All 10 produce mathematically optimal rosters — proven by the MILP solver, not approximated.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C9A84C"/>
                </a:solidFill>
                <a:latin typeface="Calibri"/>
              </a:defRPr>
            </a:pPr>
            <a:r>
              <a:t>SCENARIO A — Hard Cap Roster ($136M)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471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onsolas"/>
              </a:defRPr>
            </a:pPr>
            <a:r>
              <a:t> #  Player                       Archetype               Score        Salary</a:t>
            </a:r>
            <a:br/>
            <a:r>
              <a:t>------------------------------------------------------------------------------</a:t>
            </a:r>
            <a:br/>
            <a:r>
              <a:t> 1  Shai Gilgeous-Alexander      Elite Playmaker          89.1  $ 33,729,226</a:t>
            </a:r>
            <a:br/>
            <a:r>
              <a:t> 2  Marcus Smart                 Elite Playmaker          70.4  $ 17,528,347</a:t>
            </a:r>
            <a:br/>
            <a:r>
              <a:t> 3  Jusuf Nurkić                 Perimeter Scorer         67.7  $ 17,048,050</a:t>
            </a:r>
            <a:br/>
            <a:r>
              <a:t> 4  Victor Wembanyama            Two-Way Big              65.6  $ 11,770,308</a:t>
            </a:r>
            <a:br/>
            <a:r>
              <a:t> 5  Tre Jones                    Defensive Wing           63.2  $  7,039,195</a:t>
            </a:r>
            <a:br/>
            <a:r>
              <a:t> 6  De'Anthony Melton            Perimeter Scorer         61.6  $  2,710,900</a:t>
            </a:r>
            <a:br/>
            <a:r>
              <a:t> 7  Bogdan Bogdanović            Perimeter Scorer         59.1  $ 14,095,988</a:t>
            </a:r>
            <a:br/>
            <a:r>
              <a:t> 8  Russell Westbrook            Versatile Scorer         58.6  $  2,020,490</a:t>
            </a:r>
            <a:br/>
            <a:r>
              <a:t> 9  Dennis Smith Jr.             Defensive Wing           58.5  $  3,000,000</a:t>
            </a:r>
            <a:br/>
            <a:r>
              <a:t>10  Alperen Sengun               Elite Playmaker          55.7  $  3,922,440</a:t>
            </a:r>
            <a:br/>
            <a:r>
              <a:t>11  Tari Eason                   Defensive Wing           54.2  $  4,994,103</a:t>
            </a:r>
            <a:br/>
            <a:r>
              <a:t>12  Scotty Pippen Jr.            Elite Playmaker          53.7  $  1,998,018</a:t>
            </a:r>
            <a:br/>
            <a:r>
              <a:t>13  Vasilije Micic               Versatile Scorer         50.0  $  2,000,000</a:t>
            </a:r>
            <a:br/>
            <a:r>
              <a:t>14  Chet Holmgren                Two-Way Big              40.2  $ 12,082,222</a:t>
            </a:r>
            <a:br/>
            <a:r>
              <a:t>15  Bones Hyland                 Bench / Role Player      33.3  $  2,020,490</a:t>
            </a:r>
            <a:br/>
            <a:br/>
            <a:r>
              <a:t>TOTAL                                                     880.9  $135,959,777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C9A84C"/>
                </a:solidFill>
                <a:latin typeface="Calibri"/>
              </a:defRPr>
            </a:pPr>
            <a:r>
              <a:t>BUGS FOUND &amp; FIXED — Quality Assurance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698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87 salary imputation errors: Jimmy Butler showed $1.1M instead of $45.2M. Manually verified all 87.</a:t>
            </a:r>
          </a:p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74 duplicate player-season rows: NBA API artifact. Same player selected twice on roster. Fixed with dedup.</a:t>
            </a:r>
          </a:p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Hardcoded cluster labels broke on every data change: Jokic labeled 'Bench Player'. Fixed with dynamic centroid labeling.</a:t>
            </a:r>
          </a:p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Non-shooters passed 3PT constraint: FG3% neutralization set Gobert to league avg, making him a 'shooter'. Fixed with IS_SHOOTER flag.</a:t>
            </a:r>
          </a:p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Stale archetype name 'Two-Way Guard': optimizer constraint silently matched 0 players. Renamed to 'Versatile Scorer'.</a:t>
            </a:r>
          </a:p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Equal PCA weights: LaMelo ranked #4 over Embiid. Fixed with variance-explained weighting.</a:t>
            </a:r>
          </a:p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Stale methodology text: dashboard described old approach. Corrected.</a:t>
            </a:r>
          </a:p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AUTOMATED VERIFICATION: 175 checks across all pipeline outputs — all passing.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C9A84C"/>
                </a:solidFill>
                <a:latin typeface="Calibri"/>
              </a:defRPr>
            </a:pPr>
            <a:r>
              <a:t>LIMITATIONS — What the Model Cannot 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698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1. Salary Approximation: older-season salaries estimated via cap-ratio scaling, not actual contracts.</a:t>
            </a:r>
          </a:p>
          <a:p>
            <a:pPr>
              <a:spcAft>
                <a:spcPts val="200"/>
              </a:spcAft>
              <a:defRPr sz="14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2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2. Defensive Measurement: DEF_RATING is shared across all 5 players on court — can't assign individual credit.</a:t>
            </a:r>
          </a:p>
          <a:p>
            <a:pPr>
              <a:spcAft>
                <a:spcPts val="2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   PCA weight of 0.039 reflects this honest limitation. STL and BLK carry the defensive signal instead.</a:t>
            </a:r>
          </a:p>
          <a:p>
            <a:pPr>
              <a:spcAft>
                <a:spcPts val="200"/>
              </a:spcAft>
              <a:defRPr sz="14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2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3. Advanced Defensive Stats: D-EPM and D-LEBRON require proprietary tracking data (Second Spectrum).</a:t>
            </a:r>
          </a:p>
          <a:p>
            <a:pPr>
              <a:spcAft>
                <a:spcPts val="2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   Public APIs don't expose this. NBA front offices have better defensive data than we do.</a:t>
            </a:r>
          </a:p>
          <a:p>
            <a:pPr>
              <a:spcAft>
                <a:spcPts val="200"/>
              </a:spcAft>
              <a:defRPr sz="14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2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4. Team Context: residualization reduces but can't fully eliminate teammate-quality contamination.</a:t>
            </a:r>
          </a:p>
          <a:p>
            <a:pPr>
              <a:spcAft>
                <a:spcPts val="2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   Role players on elite teams still get a slight bump.</a:t>
            </a:r>
          </a:p>
          <a:p>
            <a:pPr>
              <a:spcAft>
                <a:spcPts val="200"/>
              </a:spcAft>
              <a:defRPr sz="14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2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5. No Future Projection: model scores past performance, not future potential. Can't predict breakouts,</a:t>
            </a:r>
          </a:p>
          <a:p>
            <a:pPr>
              <a:spcAft>
                <a:spcPts val="2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   aging curves, or injuries. Builds the best team from what already happened.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C9A84C"/>
                </a:solidFill>
                <a:latin typeface="Calibri"/>
              </a:defRPr>
            </a:pPr>
            <a:r>
              <a:t>PIPELINE ARCHITECTURE — 9 Scripts, End to End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097280"/>
            <a:ext cx="94183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onsolas"/>
              </a:defRPr>
            </a:pPr>
            <a:r>
              <a:t>fix_salaries.py          Correct 87 salary imputation errors in master data</a:t>
            </a:r>
            <a:br/>
            <a:r>
              <a:t>       |</a:t>
            </a:r>
            <a:br/>
            <a:r>
              <a:t>01_feature_engineering   Team adjustment, Bayesian shrinkage, correlation analysis,</a:t>
            </a:r>
            <a:br/>
            <a:r>
              <a:t>       |                 PCA scoring, VORPD computation</a:t>
            </a:r>
            <a:br/>
            <a:r>
              <a:t>       v</a:t>
            </a:r>
            <a:br/>
            <a:r>
              <a:t>02_clustering            K-Means (K=7) on 9 stats -&gt; 7 clusters</a:t>
            </a:r>
            <a:br/>
            <a:r>
              <a:t>       |</a:t>
            </a:r>
            <a:br/>
            <a:r>
              <a:t>03_fix_labels            Dynamic centroid-based archetype labeling -&gt; 6 names</a:t>
            </a:r>
            <a:br/>
            <a:r>
              <a:t>       |</a:t>
            </a:r>
            <a:br/>
            <a:r>
              <a:t>04_optimizer_expanded    Pre-synergy MILP optimizer (10 scenarios)</a:t>
            </a:r>
            <a:br/>
            <a:r>
              <a:t>       |</a:t>
            </a:r>
            <a:br/>
            <a:r>
              <a:t>05_compute_synergy       2-man lineup synergy (DEF + OFF + NET)</a:t>
            </a:r>
            <a:br/>
            <a:r>
              <a:t>       |</a:t>
            </a:r>
            <a:br/>
            <a:r>
              <a:t>06_validate_synergy      Statistical validation (W_NET_SYNERGY r=+0.568 vs W_PCT)</a:t>
            </a:r>
            <a:br/>
            <a:r>
              <a:t>       |</a:t>
            </a:r>
            <a:br/>
            <a:r>
              <a:t>07_optimizer_synergy     Final MILP with 3-layer synergy model (10 scenarios)</a:t>
            </a:r>
            <a:br/>
            <a:r>
              <a:t>       |</a:t>
            </a:r>
            <a:br/>
            <a:r>
              <a:t>08_build_dashboard       Excel dashboard (8 tabs) + Charts</a:t>
            </a:r>
            <a:br/>
            <a:r>
              <a:t>       |</a:t>
            </a:r>
            <a:br/>
            <a:r>
              <a:t>09_verify_pipeline       175 automated checks — all passing</a:t>
            </a:r>
            <a:b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C9A84C"/>
                </a:solidFill>
                <a:latin typeface="Calibri"/>
              </a:defRPr>
            </a:pPr>
            <a:r>
              <a:t>TOOLS &amp; TECHNOLOGIES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Python 3 — primary language for all pipeline scripts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pandas / NumPy — data manipulation and numerical computation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scikit-learn — PCA, K-Means clustering, StandardScaler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SciPy — Pearson and Spearman correlation analysis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PuLP (CBC solver) — Mixed Integer Linear Programming optimization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matplotlib / seaborn — statistical visualization (7 charts)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openpyxl — Excel dashboard generation (8 tabs)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nba_api — official NBA Stats API data extraction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python-pptx — this presentation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C9A84C"/>
                </a:solidFill>
                <a:latin typeface="Calibri"/>
              </a:defRPr>
            </a:pPr>
            <a:r>
              <a:t>NBA ROSTER OPTIMIZATION ENGINE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  <a:latin typeface="Calibri"/>
              </a:defRPr>
            </a:pPr>
            <a:r>
              <a:t>1,208 players scored  |  175 automated checks passed  |  10 optimized rosters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38912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C9A84C"/>
                </a:solidFill>
                <a:latin typeface="Calibri"/>
              </a:defRPr>
            </a:pPr>
            <a:r>
              <a:t>Public data. Data-driven, not gut-driven. Mathematically optimized.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