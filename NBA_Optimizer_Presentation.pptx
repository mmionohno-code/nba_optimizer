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o Moon" userId="b71dfef719442e0e" providerId="LiveId" clId="{8CD990A9-8A41-4B79-A2F7-DBE3003A1085}"/>
    <pc:docChg chg="modSld">
      <pc:chgData name="Minho Moon" userId="b71dfef719442e0e" providerId="LiveId" clId="{8CD990A9-8A41-4B79-A2F7-DBE3003A1085}" dt="2026-06-01T22:30:21.554" v="6" actId="14100"/>
      <pc:docMkLst>
        <pc:docMk/>
      </pc:docMkLst>
      <pc:sldChg chg="modSp mod">
        <pc:chgData name="Minho Moon" userId="b71dfef719442e0e" providerId="LiveId" clId="{8CD990A9-8A41-4B79-A2F7-DBE3003A1085}" dt="2026-06-01T22:30:21.554" v="6" actId="14100"/>
        <pc:sldMkLst>
          <pc:docMk/>
          <pc:sldMk cId="0" sldId="264"/>
        </pc:sldMkLst>
        <pc:picChg chg="mod">
          <ac:chgData name="Minho Moon" userId="b71dfef719442e0e" providerId="LiveId" clId="{8CD990A9-8A41-4B79-A2F7-DBE3003A1085}" dt="2026-06-01T22:30:21.554" v="6" actId="14100"/>
          <ac:picMkLst>
            <pc:docMk/>
            <pc:sldMk cId="0" sldId="264"/>
            <ac:picMk id="4" creationId="{00000000-0000-0000-0000-000000000000}"/>
          </ac:picMkLst>
        </pc:picChg>
        <pc:picChg chg="mod">
          <ac:chgData name="Minho Moon" userId="b71dfef719442e0e" providerId="LiveId" clId="{8CD990A9-8A41-4B79-A2F7-DBE3003A1085}" dt="2026-06-01T22:30:15.524" v="4" actId="14100"/>
          <ac:picMkLst>
            <pc:docMk/>
            <pc:sldMk cId="0" sldId="264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9A84C"/>
                </a:solidFill>
                <a:latin typeface="Calibri"/>
              </a:defRPr>
            </a:pPr>
            <a:r>
              <a:t>NBA ROSTER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Building the Statistically Optimal Team Under a Salary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84C"/>
                </a:solidFill>
                <a:latin typeface="Calibri"/>
              </a:defRPr>
            </a:pPr>
            <a:r>
              <a:t>Data-Driven  |  PCA Composite Scoring  |  K-Means Archetypes  |  MILP Optimization  |  Synergy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2F2"/>
                </a:solidFill>
                <a:latin typeface="Calibri"/>
              </a:defRPr>
            </a:pPr>
            <a:r>
              <a:t>1,185 Player-Seasons  |  9 Validated Stats  |  6 Archetypes  |  10 Optimized Rosters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NBA teams spend $150M+ on rosters — but how do you know you're spending it right?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Traditional roster building relies on scouts, gut feelings, and media narratives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Players are evaluated in isolation — but basketball is a team sport where fit matters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single stat captures a player's total value — points ignore defense, rebounds ignore playmaking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GOAL: Build a mathematically optimal 15-man NBA roster that maximizes total player value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under a real salary cap constraint, using only publicly available data and zero human bias.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Source: NBA Stats API (nba_api) — official NBA.com backend. Same data NBA teams see.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 seasons: 2021-22, 2022-23, 2023-24 (~400 players per season = 1,185 player-seasons)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Quality filter: minimum 20 games played and 10 minutes per game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Recency weights: 2021-22 (20%), 2022-23 (35%), 2023-24 (45%)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Salary data: 2023-24 verified contracts + 87 manual corrections for imputation errors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ON/OFF splits from 5-man lineup data (LeagueDashLineups API)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2-man lineup data for pairwise synergy computation (6,000+ pair-seasons)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FEATURE ENGINEERING — Cleaning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Team Context Adjustment: subtract team average from each stat to isolate individual contribution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Bayesian TS% Shrinkage: pull low-volume shooters toward league average (prevents small-sample inflation)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FG3% Neutralization: non-shooters (&lt;0.5 FG3A/game) set to league avg — 'no info' not 'bad shooter'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W_PCT Residualization: OLS regression removes team-quality bias from ON_OFF_DIFF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INFLUENCE_SCORE = USG% x TS% — separates efficient volume scorers from inefficient ones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IS_SHOOTER flag: created before neutralization so optimizer knows who actually shoots threes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STAT SELECTION — Three-Framework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Framework 1: Team-adjusted stats vs Win% — which stats predict team winning?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Framework 2: Individual counting stats vs Win% — which individual skills tie to winning?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Framework 3: All stats vs Plus/Minus (team-adjusted) — captures invisible contributions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Spearman Validation: re-test everything with rank correlation to catch non-linear relationships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Selection Rule: stat included if p &lt; 0.05 in at least one framework AND validated by Spearman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DREB_PCT eliminated: position-group adjustment revealed it was measuring height, not skill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RESULT: 9 stats survived — OFF_RATING_ADJ, DEF_RATING_ADJ, AST_PCT_ADJ, BLK, STL, TS%, FG3%, INFLUENCE_SCORE, ON_OFF_DIFF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INTERCORRELATION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2F2"/>
                </a:solidFill>
                <a:latin typeface="Calibri"/>
              </a:defRPr>
            </a:pPr>
            <a:r>
              <a:t>Before entering PCA, all 9 stats must be sufficiently independent. No pair exceeds |r| &gt; 0.7 — each stat captures a unique dimension of player skill. PIE_ADJUSTED was removed due to r=0.78 with INFLUENCE_SCORE (redundant).</a:t>
            </a:r>
          </a:p>
        </p:txBody>
      </p:sp>
      <p:pic>
        <p:nvPicPr>
          <p:cNvPr id="4" name="Picture 3" descr="intercorrelat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6576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PCA — Deriving the Composite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PCA (Principal Component Analysis) takes 9 stats per player and compresses them into a single score (0-100).</a:t>
            </a:r>
            <a:br/>
            <a:br/>
            <a:r>
              <a:t>The weights are not chosen by us — they are derived entirely from the data.</a:t>
            </a:r>
            <a:br/>
            <a:br/>
            <a:r>
              <a:t>PC1 alone captures ~30% of variance. We use PC1+PC2+PC3 (65% combined), weighted by their variance-explained shares:</a:t>
            </a:r>
            <a:br/>
            <a:r>
              <a:t>  PC1: 47%  |  PC2: 29%  |  PC3: 24%</a:t>
            </a:r>
            <a:br/>
            <a:br/>
            <a:r>
              <a:t>This ensures the dominant basketball excellence signal (PC1) carries the most weight while PC2/PC3 add independent information.</a:t>
            </a:r>
          </a:p>
        </p:txBody>
      </p:sp>
      <p:pic>
        <p:nvPicPr>
          <p:cNvPr id="4" name="Picture 3" descr="pca_weight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2743200"/>
          </a:xfrm>
          <a:prstGeom prst="rect">
            <a:avLst/>
          </a:prstGeom>
        </p:spPr>
      </p:pic>
      <p:pic>
        <p:nvPicPr>
          <p:cNvPr id="5" name="Picture 4" descr="pca_variance_expl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49039"/>
            <a:ext cx="57607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TOP 20 PLAYERS — 2023-24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1. Nikola Jokić                 96.3</a:t>
            </a:r>
            <a:br/>
            <a:r>
              <a:t> 2. Shai Gilgeous-Alexander      89.0</a:t>
            </a:r>
            <a:br/>
            <a:r>
              <a:t> 3. Luka Dončić                  87.5</a:t>
            </a:r>
            <a:br/>
            <a:r>
              <a:t> 4. Giannis Antetokounmpo        81.5</a:t>
            </a:r>
            <a:br/>
            <a:r>
              <a:t> 5. Joel Embiid                  79.8</a:t>
            </a:r>
            <a:br/>
            <a:r>
              <a:t> 6. Tyrese Haliburton            78.2</a:t>
            </a:r>
            <a:br/>
            <a:r>
              <a:t> 7. De'Aaron Fox                 77.3</a:t>
            </a:r>
            <a:br/>
            <a:r>
              <a:t> 8. Donovan Mitchell             76.7</a:t>
            </a:r>
            <a:br/>
            <a:r>
              <a:t> 9. Jalen Brunson                76.6</a:t>
            </a:r>
            <a:br/>
            <a:r>
              <a:t>10. LaMelo Ball                  75.0</a:t>
            </a:r>
            <a:br/>
            <a:r>
              <a:t>11. LeBron James                 73.6</a:t>
            </a:r>
            <a:br/>
            <a:r>
              <a:t>12. Damian Lillard               72.1</a:t>
            </a:r>
            <a:br/>
            <a:r>
              <a:t>13. Paul George                  71.2</a:t>
            </a:r>
            <a:br/>
            <a:r>
              <a:t>14. Trae Young                   69.8</a:t>
            </a:r>
            <a:br/>
            <a:r>
              <a:t>15. Kawhi Leonard                68.7</a:t>
            </a:r>
            <a:br/>
            <a:r>
              <a:t>16. Marcus Smart                 68.6</a:t>
            </a:r>
            <a:br/>
            <a:r>
              <a:t>17. Scottie Barnes               68.2</a:t>
            </a:r>
            <a:br/>
            <a:r>
              <a:t>18. Cade Cunningham              67.8</a:t>
            </a:r>
            <a:br/>
            <a:r>
              <a:t>19. Devin Booker                 66.9</a:t>
            </a:r>
            <a:br/>
            <a:r>
              <a:t>20. Jusuf Nurkić                 66.8</a:t>
            </a:r>
            <a:br/>
            <a:endParaRPr/>
          </a:p>
        </p:txBody>
      </p:sp>
      <p:pic>
        <p:nvPicPr>
          <p:cNvPr id="4" name="Picture 3" descr="top20_player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31520"/>
            <a:ext cx="594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K-MEANS CLUSTERING — Discovering Player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K-Means groups 1,185 player-seasons into clusters based on their 9-stat profiles. Players with similar statistical fingerprints land in the same group.</a:t>
            </a:r>
            <a:br/>
            <a:br/>
            <a:r>
              <a:t>Elbow method validated K=7 as optimal (7 clusters mapped to 6 archetype labels).</a:t>
            </a:r>
            <a:br/>
            <a:br/>
            <a:r>
              <a:t>Dynamic labeling: archetypes assigned by centroid statistics, not hardcoded cluster numbers. This prevents labels from breaking when data changes.</a:t>
            </a:r>
          </a:p>
        </p:txBody>
      </p:sp>
      <p:pic>
        <p:nvPicPr>
          <p:cNvPr id="4" name="Picture 3" descr="elbow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19" y="914400"/>
            <a:ext cx="5943601" cy="2812016"/>
          </a:xfrm>
          <a:prstGeom prst="rect">
            <a:avLst/>
          </a:prstGeom>
        </p:spPr>
      </p:pic>
      <p:pic>
        <p:nvPicPr>
          <p:cNvPr id="5" name="Picture 4" descr="cluster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726416"/>
            <a:ext cx="5943600" cy="3131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2F2"/>
                </a:solidFill>
                <a:latin typeface="Consolas"/>
              </a:defRPr>
            </a:pPr>
            <a:r>
              <a:t>6 ARCHETYPES:</a:t>
            </a:r>
            <a:br/>
            <a:r>
              <a:t>  Elite Playmaker    — Jokic, SGA, Luka, Embiid, Giannis</a:t>
            </a:r>
            <a:br/>
            <a:r>
              <a:t>  Two-Way Big        — Wembanyama, AD, Gobert</a:t>
            </a:r>
            <a:br/>
            <a:r>
              <a:t>  Versatile Scorer   — Franz Wagner, Garland, Randle</a:t>
            </a:r>
            <a:br/>
            <a:r>
              <a:t>  Defensive Wing     — OG Anunoby, KCP, Aaron Gordon</a:t>
            </a:r>
            <a:br/>
            <a:r>
              <a:t>  Perimeter Scorer   — Markkanen, RJ Barrett</a:t>
            </a:r>
            <a:br/>
            <a:r>
              <a:t>  Bench / Role Player — Depth pieces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ARCHETYPE STAT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2F2"/>
                </a:solidFill>
                <a:latin typeface="Calibri"/>
              </a:defRPr>
            </a:pPr>
            <a:r>
              <a:t>Each archetype has a distinct statistical fingerprint — radar charts show average stat profile on a 0-1 normalized scale.</a:t>
            </a:r>
          </a:p>
        </p:txBody>
      </p:sp>
      <p:pic>
        <p:nvPicPr>
          <p:cNvPr id="4" name="Picture 3" descr="archetype_radar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MILP OPTIMIZATION — Building the Roster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MILP (Mixed Integer Linear Programming): mathematically proven optimal solution, not heuristic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399 binary decision variables: each player is either on the roster (1) or not (0)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Objective: maximize total composite score (or variant objectives per scenario)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HARD CONSTRAINTS: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Salary cap (varies by scenario: $90M to $165M)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Exactly 15 players on the roster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Archetype minimums (at least 1 Elite Playmaker, 2 Two-Way Bigs, etc.)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Max 2 players from any single NBA team (team diversity)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Max 5 big men on roster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VARIANT CONSTRAINTS (per scenario):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Rebuild: at least 9 players age 24 or younger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Win-Now: at least 9 veterans age 28 or older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Three-Point Era: at least 10 real shooters (IS_SHOOTER flag)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Small Ball: max 1 Two-Way Big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SYNERGY MODEL — Player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PROBLEM: The base optimizer treats players independently. Basketball is a team sport.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Some pairs elevate each other (Jokic + shooters). Some pairs clash.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THREE SYNERGY LAYERS: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Layer 1 — Player Profile: each player's average NET_SYNERGY across all observed 2-man pairs.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Players who consistently elevate teammates get a score boost. Weight = 0.4.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Layer 2 — Pairwise Bonus: if two specific players with observed positive synergy are both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selected, the optimizer gets a bonus. Linearized via binary y_ij variables in MILP.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Layer 3 — Defensive Coverage Zones: hard constraints requiring paint protection (BLK &gt;= 1.5),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perimeter disruption (STL &gt;= 1.3), and switchability (4+ defensive-archetype players).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VALIDATION: W_NET_SYNERGY has highest correlation with Win% (r=+0.568) across all 3 seasons.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The data chose NET_SYNERGY — not 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10 OPTIMIZATION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Scenario A — Hard Cap ($136M)          Standard baseline roster</a:t>
            </a:r>
            <a:br/>
            <a:r>
              <a:t>Scenario B — Luxury Tax ($165M)        Best roster money can buy</a:t>
            </a:r>
            <a:br/>
            <a:r>
              <a:t>Scenario C — Budget Team ($90M)        Small-market constraint</a:t>
            </a:r>
            <a:br/>
            <a:r>
              <a:t>Scenario D — Rebuild Mode ($136M)      Min 9 players age &lt;= 24</a:t>
            </a:r>
            <a:br/>
            <a:r>
              <a:t>Scenario E — Win-Now ($165M)           Min 9 veterans age &gt;= 28</a:t>
            </a:r>
            <a:br/>
            <a:r>
              <a:t>Scenario F — Defensive Identity        Maximize defensive rating</a:t>
            </a:r>
            <a:br/>
            <a:r>
              <a:t>Scenario G — Offensive Identity        Maximize offensive rating</a:t>
            </a:r>
            <a:br/>
            <a:r>
              <a:t>Scenario H — Three-Point Era           Min 10 real 3PT shooters</a:t>
            </a:r>
            <a:br/>
            <a:r>
              <a:t>Scenario I — Small Ball                Max 1 Two-Way Big</a:t>
            </a:r>
            <a:br/>
            <a:r>
              <a:t>Scenario J — Value / Efficiency        Maximize VORPD (Moneyball)</a:t>
            </a:r>
            <a:br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2F2F2"/>
                </a:solidFill>
                <a:latin typeface="Calibri"/>
              </a:defRPr>
            </a:pPr>
            <a:r>
              <a:t>Each scenario solves a different real-world GM question.</a:t>
            </a:r>
            <a:br/>
            <a:r>
              <a:t>All 10 produce mathematically optimal rosters — proven by the MILP solver, not approximated.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SCENARIO A — Hard Cap Roster ($136M)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#  Player                       Archetype               Score        Salary</a:t>
            </a:r>
            <a:br/>
            <a:r>
              <a:t>------------------------------------------------------------------------------</a:t>
            </a:r>
            <a:br/>
            <a:r>
              <a:t> 1  Shai Gilgeous-Alexander      Elite Playmaker          89.1  $ 33,729,226</a:t>
            </a:r>
            <a:br/>
            <a:r>
              <a:t> 2  Marcus Smart                 Elite Playmaker          70.4  $ 17,528,347</a:t>
            </a:r>
            <a:br/>
            <a:r>
              <a:t> 3  Jusuf Nurkić                 Perimeter Scorer         67.7  $ 17,048,050</a:t>
            </a:r>
            <a:br/>
            <a:r>
              <a:t> 4  Victor Wembanyama            Two-Way Big              65.6  $ 11,770,308</a:t>
            </a:r>
            <a:br/>
            <a:r>
              <a:t> 5  Tre Jones                    Defensive Wing           63.2  $  7,039,195</a:t>
            </a:r>
            <a:br/>
            <a:r>
              <a:t> 6  De'Anthony Melton            Perimeter Scorer         61.6  $  2,710,900</a:t>
            </a:r>
            <a:br/>
            <a:r>
              <a:t> 7  Bogdan Bogdanović            Perimeter Scorer         59.1  $ 14,095,988</a:t>
            </a:r>
            <a:br/>
            <a:r>
              <a:t> 8  Russell Westbrook            Versatile Scorer         58.6  $  2,020,490</a:t>
            </a:r>
            <a:br/>
            <a:r>
              <a:t> 9  Dennis Smith Jr.             Defensive Wing           58.5  $  3,000,000</a:t>
            </a:r>
            <a:br/>
            <a:r>
              <a:t>10  Alperen Sengun               Elite Playmaker          55.7  $  3,922,440</a:t>
            </a:r>
            <a:br/>
            <a:r>
              <a:t>11  Tari Eason                   Defensive Wing           54.2  $  4,994,103</a:t>
            </a:r>
            <a:br/>
            <a:r>
              <a:t>12  Scotty Pippen Jr.            Elite Playmaker          53.7  $  1,998,018</a:t>
            </a:r>
            <a:br/>
            <a:r>
              <a:t>13  Vasilije Micic               Versatile Scorer         50.0  $  2,000,000</a:t>
            </a:r>
            <a:br/>
            <a:r>
              <a:t>14  Chet Holmgren                Two-Way Big              40.2  $ 12,082,222</a:t>
            </a:r>
            <a:br/>
            <a:r>
              <a:t>15  Bones Hyland                 Bench / Role Player      33.3  $  2,020,490</a:t>
            </a:r>
            <a:br/>
            <a:br/>
            <a:r>
              <a:t>TOTAL                                                     880.9  $135,959,777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BUGS FOUND &amp; FIXED —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87 salary imputation errors: Jimmy Butler showed $1.1M instead of $45.2M. Manually verified all 87.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74 duplicate player-season rows: NBA API artifact. Same player selected twice on roster. Fixed with </a:t>
            </a:r>
            <a:r>
              <a:rPr dirty="0" err="1"/>
              <a:t>dedup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Hardcoded cluster labels broke on every data change: Jokic labeled 'Bench Player'. Fixed with dynamic centroid labeling.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Non-shooters passed 3PT constraint: FG3% neutralization set Gobert to league avg, making him a 'shooter'. Fixed with IS_SHOOTER flag.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Stale archetype name 'Two-Way Guard': optimizer constraint silently matched 0 players. Renamed to 'Versatile Scorer'.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Equal PCA weights: LaMelo ranked #4 over Embiid. Fixed with variance-explained weighting.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Stale methodology text: dashboard described old approach. Corrected.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AUTOMATED VERIFICATION: 175 checks across all pipeline outputs — all passing.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LIMITATIONS — What the Model Cannot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1. Salary Approximation: older-season salaries estimated via cap-ratio scaling, not actual contracts.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2. Defensive Measurement: DEF_RATING is shared across all 5 players on court — can't assign individual credit.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PCA weight of 0.039 reflects this honest limitation. STL and BLK carry the defensive signal instead.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3. Advanced Defensive Stats: D-EPM and D-LEBRON require proprietary tracking data (Second Spectrum).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Public APIs don't expose this. NBA front offices have better defensive data than we do.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4. Team Context: residualization reduces but can't fully eliminate teammate-quality contamination.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Role players on elite teams still get a slight bump.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5. No Future Projection: model scores past performance, not future potential. Can't predict breakouts,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aging curves, or injuries. Builds the best team from what already happened.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Calibri"/>
              </a:defRPr>
            </a:pPr>
            <a:r>
              <a:t>PIPELINE ARCHITECTURE — 9 Scripts,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fix_salaries.py          Correct 87 salary imputation errors in master data</a:t>
            </a:r>
            <a:br/>
            <a:r>
              <a:t>       |</a:t>
            </a:r>
            <a:br/>
            <a:r>
              <a:t>01_feature_engineering   Team adjustment, Bayesian shrinkage, correlation analysis,</a:t>
            </a:r>
            <a:br/>
            <a:r>
              <a:t>       |                 PCA scoring, VORPD computation</a:t>
            </a:r>
            <a:br/>
            <a:r>
              <a:t>       v</a:t>
            </a:r>
            <a:br/>
            <a:r>
              <a:t>02_clustering            K-Means (K=7) on 9 stats -&gt; 7 clusters</a:t>
            </a:r>
            <a:br/>
            <a:r>
              <a:t>       |</a:t>
            </a:r>
            <a:br/>
            <a:r>
              <a:t>03_fix_labels            Dynamic centroid-based archetype labeling -&gt; 6 names</a:t>
            </a:r>
            <a:br/>
            <a:r>
              <a:t>       |</a:t>
            </a:r>
            <a:br/>
            <a:r>
              <a:t>04_optimizer_expanded    Pre-synergy MILP optimizer (10 scenarios)</a:t>
            </a:r>
            <a:br/>
            <a:r>
              <a:t>       |</a:t>
            </a:r>
            <a:br/>
            <a:r>
              <a:t>05_compute_synergy       2-man lineup synergy (DEF + OFF + NET)</a:t>
            </a:r>
            <a:br/>
            <a:r>
              <a:t>       |</a:t>
            </a:r>
            <a:br/>
            <a:r>
              <a:t>06_validate_synergy      Statistical validation (W_NET_SYNERGY r=+0.568 vs W_PCT)</a:t>
            </a:r>
            <a:br/>
            <a:r>
              <a:t>       |</a:t>
            </a:r>
            <a:br/>
            <a:r>
              <a:t>07_optimizer_synergy     Final MILP with 3-layer synergy model (10 scenarios)</a:t>
            </a:r>
            <a:br/>
            <a:r>
              <a:t>       |</a:t>
            </a:r>
            <a:br/>
            <a:r>
              <a:t>08_build_dashboard       Excel dashboard (8 tabs) + Charts</a:t>
            </a:r>
            <a:br/>
            <a:r>
              <a:t>       |</a:t>
            </a:r>
            <a:br/>
            <a:r>
              <a:t>09_verify_pipeline       175 automated checks — all passing</a:t>
            </a:r>
            <a:br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9A84C"/>
                </a:solidFill>
                <a:latin typeface="Calibri"/>
              </a:defRPr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Python 3 — primary language for all pipeline scripts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pandas / NumPy — data manipulation and numerical computation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scikit-learn — PCA, K-Means clustering, StandardScaler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SciPy — Pearson and Spearman correlation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PuLP (CBC solver) — Mixed Integer Linear Programming optimization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matplotlib / seaborn — statistical visualization (7 charts)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openpyxl — Excel dashboard generation (8 tabs)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nba_api — official NBA Stats API data extraction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python-pptx — this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84C"/>
                </a:solidFill>
                <a:latin typeface="Calibri"/>
              </a:defRPr>
            </a:pPr>
            <a:r>
              <a:t>NBA ROSTER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1,185 players scored  |  175 automated checks passed  |  10 optimized rosters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4C"/>
                </a:solidFill>
                <a:latin typeface="Calibri"/>
              </a:defRPr>
            </a:pPr>
            <a:r>
              <a:t>Public data. Zero bias. Mathematically proven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2227</Words>
  <Application>Microsoft Office PowerPoint</Application>
  <PresentationFormat>Widescreen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Minho Moon</cp:lastModifiedBy>
  <cp:revision>1</cp:revision>
  <dcterms:created xsi:type="dcterms:W3CDTF">2013-01-27T09:14:16Z</dcterms:created>
  <dcterms:modified xsi:type="dcterms:W3CDTF">2026-06-01T22:31:10Z</dcterms:modified>
  <cp:category/>
</cp:coreProperties>
</file>